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83" r:id="rId3"/>
    <p:sldId id="286" r:id="rId4"/>
    <p:sldId id="257" r:id="rId5"/>
    <p:sldId id="258" r:id="rId6"/>
    <p:sldId id="259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84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-326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6005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1879" y="-1691640"/>
            <a:ext cx="3454301" cy="3454301"/>
          </a:xfrm>
          <a:prstGeom prst="ellipse">
            <a:avLst/>
          </a:prstGeom>
          <a:solidFill>
            <a:srgbClr val="F4F8F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5477522"/>
            <a:ext cx="3575038" cy="3575038"/>
          </a:xfrm>
          <a:prstGeom prst="ellipse">
            <a:avLst/>
          </a:prstGeom>
          <a:solidFill>
            <a:srgbClr val="F4F8F8"/>
          </a:solidFill>
          <a:ln/>
        </p:spPr>
      </p:sp>
      <p:sp>
        <p:nvSpPr>
          <p:cNvPr id="4" name="Text 2"/>
          <p:cNvSpPr/>
          <p:nvPr/>
        </p:nvSpPr>
        <p:spPr>
          <a:xfrm>
            <a:off x="2562922" y="429614"/>
            <a:ext cx="73652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2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</a:t>
            </a:r>
            <a:r>
              <a:rPr lang="en-US" sz="2400" b="1" kern="0" spc="200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kern="0" spc="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81114" y="688162"/>
            <a:ext cx="11075265" cy="11531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4800" b="1" dirty="0" smtClean="0">
                <a:solidFill>
                  <a:srgbClr val="1B2A2E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RELIABLE MEDICAL SUPPORT SYSTEM</a:t>
            </a:r>
            <a:endParaRPr lang="en-US" sz="48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3A5B2D3-D103-91B6-EEB8-3168D8C2B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72" y="5634890"/>
            <a:ext cx="708070" cy="705829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xmlns="" id="{0D983B42-27CA-58EA-90EF-92D6A37B41A3}"/>
              </a:ext>
            </a:extLst>
          </p:cNvPr>
          <p:cNvSpPr txBox="1"/>
          <p:nvPr/>
        </p:nvSpPr>
        <p:spPr>
          <a:xfrm>
            <a:off x="852328" y="6116312"/>
            <a:ext cx="11897612" cy="634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54"/>
              </a:lnSpc>
            </a:pP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Dhaka University of Engineering &amp; Technology, Gazipur 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xmlns="" id="{CE5407A9-2FEC-427A-FA6F-E9BE28EC6F9A}"/>
              </a:ext>
            </a:extLst>
          </p:cNvPr>
          <p:cNvSpPr txBox="1"/>
          <p:nvPr/>
        </p:nvSpPr>
        <p:spPr>
          <a:xfrm>
            <a:off x="1513150" y="5634890"/>
            <a:ext cx="10575968" cy="610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54"/>
              </a:lnSpc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Department of Computer Science and Engineering 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xmlns="" id="{AE62DBDE-9440-B653-FEA4-6CEB167BE4E1}"/>
              </a:ext>
            </a:extLst>
          </p:cNvPr>
          <p:cNvSpPr txBox="1"/>
          <p:nvPr/>
        </p:nvSpPr>
        <p:spPr>
          <a:xfrm>
            <a:off x="401653" y="2771895"/>
            <a:ext cx="5118930" cy="21826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3200" b="1" u="sng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Submitted By:</a:t>
            </a:r>
          </a:p>
          <a:p>
            <a:pPr algn="l"/>
            <a:r>
              <a:rPr lang="en-US" sz="3200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Abdul </a:t>
            </a:r>
            <a:r>
              <a:rPr lang="en-US" sz="3200" dirty="0" err="1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Owadud</a:t>
            </a:r>
            <a:r>
              <a:rPr lang="en-US" sz="3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Raton(214033)</a:t>
            </a:r>
          </a:p>
          <a:p>
            <a:pPr algn="l"/>
            <a:r>
              <a:rPr lang="en-US" sz="3200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Md. </a:t>
            </a:r>
            <a:r>
              <a:rPr lang="en-US" sz="3200" dirty="0" err="1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Imon</a:t>
            </a:r>
            <a:r>
              <a:rPr lang="en-US" sz="3200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Hossain</a:t>
            </a:r>
            <a:r>
              <a:rPr lang="en-US" sz="3200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 (214039)</a:t>
            </a:r>
            <a:endParaRPr lang="en-US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Poppins Bold"/>
            </a:endParaRPr>
          </a:p>
          <a:p>
            <a:pPr algn="l"/>
            <a:r>
              <a:rPr lang="en-US" sz="3200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Md. </a:t>
            </a:r>
            <a:r>
              <a:rPr lang="en-US" sz="3200" dirty="0" err="1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Mesbaul</a:t>
            </a:r>
            <a:r>
              <a:rPr lang="en-US" sz="3200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Alam</a:t>
            </a:r>
            <a:r>
              <a:rPr lang="en-US" sz="3200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 (214040)</a:t>
            </a:r>
            <a:endParaRPr lang="en-US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Poppins Bold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xmlns="" id="{7A8EDFED-6865-5396-CBF1-24F5B4E32579}"/>
              </a:ext>
            </a:extLst>
          </p:cNvPr>
          <p:cNvSpPr txBox="1"/>
          <p:nvPr/>
        </p:nvSpPr>
        <p:spPr>
          <a:xfrm>
            <a:off x="6801134" y="2771895"/>
            <a:ext cx="5197161" cy="2428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4"/>
              </a:lnSpc>
            </a:pPr>
            <a:r>
              <a:rPr lang="en-US" sz="3200" b="1" u="sng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Course Teachers</a:t>
            </a:r>
            <a:r>
              <a:rPr lang="en-US" sz="3200" b="1" u="sng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:</a:t>
            </a:r>
            <a:endParaRPr lang="en-US" sz="3200" b="1" u="sng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Poppins Bold"/>
            </a:endParaRPr>
          </a:p>
          <a:p>
            <a:pPr algn="l"/>
            <a:r>
              <a:rPr lang="en-US" sz="3200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Dr. </a:t>
            </a:r>
            <a:r>
              <a:rPr lang="en-US" sz="3200" dirty="0" err="1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Momotaz</a:t>
            </a:r>
            <a:r>
              <a:rPr lang="en-US" sz="3200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 Begum</a:t>
            </a:r>
            <a:endParaRPr lang="en-US" sz="3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Poppins Bold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Professor, Dept. of CSE, DUET</a:t>
            </a:r>
            <a:endParaRPr lang="en-US" sz="24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Poppins Bold"/>
            </a:endParaRPr>
          </a:p>
          <a:p>
            <a:pPr algn="l"/>
            <a:r>
              <a:rPr lang="en-US" sz="3200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Mr. </a:t>
            </a:r>
            <a:r>
              <a:rPr lang="en-US" sz="3200" dirty="0" err="1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Liton</a:t>
            </a:r>
            <a:r>
              <a:rPr lang="en-US" sz="3200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 Islam</a:t>
            </a:r>
          </a:p>
          <a:p>
            <a:pPr algn="l"/>
            <a:r>
              <a:rPr lang="en-US" sz="2400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Assistant Professor, Dept</a:t>
            </a:r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Poppins Bold"/>
              </a:rPr>
              <a:t>. of CSE, DUET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502770" y="1742502"/>
            <a:ext cx="6035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kern="0" spc="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Course Title: Software </a:t>
            </a:r>
            <a:r>
              <a:rPr lang="en-US" b="1" kern="0" spc="2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Engineering Sessional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0323" y="30877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 smtClean="0">
                <a:solidFill>
                  <a:srgbClr val="00A89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INTRODUCTION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991312"/>
            <a:ext cx="11064240" cy="40079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ct val="125000"/>
              </a:lnSpc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This project is an AI-assisted preliminary medical support system where patients describe their symptoms in plain language and receive a structured, non-diagnostic health assessment. It combines NLP, a medical knowledge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base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Data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retrieval-augmented generation (RAG), a large language model, and a rule-based safety layer into one full-stack web application.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0323" y="30877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 smtClean="0">
                <a:solidFill>
                  <a:srgbClr val="00A89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OBJECTIVE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991312"/>
            <a:ext cx="11064240" cy="40079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514350" indent="-514350" algn="just">
              <a:lnSpc>
                <a:spcPct val="125000"/>
              </a:lnSpc>
              <a:buAutoNum type="arabicPeriod"/>
            </a:pPr>
            <a:r>
              <a:rPr lang="en-US" sz="2400" dirty="0" smtClean="0"/>
              <a:t>Let </a:t>
            </a:r>
            <a:r>
              <a:rPr lang="en-US" sz="2400" dirty="0"/>
              <a:t>patients enter symptoms in free text and receive a structured AI-assisted </a:t>
            </a:r>
            <a:r>
              <a:rPr lang="en-US" sz="2400" dirty="0" smtClean="0"/>
              <a:t>assessment. </a:t>
            </a:r>
          </a:p>
          <a:p>
            <a:pPr marL="514350" indent="-514350" algn="just">
              <a:lnSpc>
                <a:spcPct val="125000"/>
              </a:lnSpc>
              <a:buAutoNum type="arabicPeriod"/>
            </a:pPr>
            <a:r>
              <a:rPr lang="en-US" sz="2400" dirty="0" smtClean="0"/>
              <a:t>Detect </a:t>
            </a:r>
            <a:r>
              <a:rPr lang="en-US" sz="2400" dirty="0"/>
              <a:t>emergency </a:t>
            </a:r>
            <a:r>
              <a:rPr lang="en-US" sz="2400" dirty="0" smtClean="0"/>
              <a:t>(red flag) </a:t>
            </a:r>
            <a:r>
              <a:rPr lang="en-US" sz="2400" dirty="0"/>
              <a:t>symptoms independently of the AI, before any AI call </a:t>
            </a:r>
            <a:endParaRPr lang="en-US" sz="2400" dirty="0" smtClean="0"/>
          </a:p>
          <a:p>
            <a:pPr marL="514350" indent="-514350" algn="just">
              <a:lnSpc>
                <a:spcPct val="125000"/>
              </a:lnSpc>
              <a:buAutoNum type="arabicPeriod"/>
            </a:pPr>
            <a:r>
              <a:rPr lang="en-US" sz="2400" dirty="0" smtClean="0"/>
              <a:t>Ground </a:t>
            </a:r>
            <a:r>
              <a:rPr lang="en-US" sz="2400" dirty="0"/>
              <a:t>AI responses in a real medical knowledge </a:t>
            </a:r>
            <a:r>
              <a:rPr lang="en-US" sz="2400" dirty="0" smtClean="0"/>
              <a:t>base data </a:t>
            </a:r>
            <a:r>
              <a:rPr lang="en-US" sz="2400" dirty="0"/>
              <a:t>via RAG </a:t>
            </a:r>
            <a:r>
              <a:rPr lang="en-US" sz="2400" dirty="0" smtClean="0"/>
              <a:t> </a:t>
            </a:r>
            <a:r>
              <a:rPr lang="en-US" sz="2400" dirty="0"/>
              <a:t>never let the AI invent facts </a:t>
            </a:r>
            <a:endParaRPr lang="en-US" sz="2400" dirty="0" smtClean="0"/>
          </a:p>
          <a:p>
            <a:pPr marL="514350" indent="-514350" algn="just">
              <a:lnSpc>
                <a:spcPct val="125000"/>
              </a:lnSpc>
              <a:buAutoNum type="arabicPeriod"/>
            </a:pPr>
            <a:r>
              <a:rPr lang="en-US" sz="2400" dirty="0" smtClean="0"/>
              <a:t>Make </a:t>
            </a:r>
            <a:r>
              <a:rPr lang="en-US" sz="2400" dirty="0"/>
              <a:t>every assessment </a:t>
            </a:r>
            <a:r>
              <a:rPr lang="en-US" sz="2400" b="1" dirty="0"/>
              <a:t>explainable</a:t>
            </a:r>
            <a:r>
              <a:rPr lang="en-US" sz="2400" dirty="0"/>
              <a:t>: show </a:t>
            </a:r>
            <a:r>
              <a:rPr lang="en-US" sz="2400" i="1" dirty="0"/>
              <a:t>why</a:t>
            </a:r>
            <a:r>
              <a:rPr lang="en-US" sz="2400" dirty="0"/>
              <a:t> a condition or urgency level was suggested </a:t>
            </a:r>
            <a:endParaRPr lang="en-US" sz="2400" dirty="0" smtClean="0"/>
          </a:p>
          <a:p>
            <a:pPr marL="514350" indent="-514350" algn="just">
              <a:lnSpc>
                <a:spcPct val="125000"/>
              </a:lnSpc>
              <a:buAutoNum type="arabicPeriod"/>
            </a:pPr>
            <a:r>
              <a:rPr lang="en-US" sz="2400" dirty="0" smtClean="0"/>
              <a:t>Keep </a:t>
            </a:r>
            <a:r>
              <a:rPr lang="en-US" sz="2400" dirty="0"/>
              <a:t>patient data private and every assessment strictly owned by the patient who created it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65719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150" dirty="0" smtClean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MATERIALS</a:t>
            </a:r>
            <a:r>
              <a:rPr lang="en-US" sz="2000" dirty="0" smtClean="0"/>
              <a:t> 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867014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1B2A2E"/>
                </a:solidFill>
                <a:latin typeface="Cambria" pitchFamily="34" charset="0"/>
                <a:ea typeface="Cambria" pitchFamily="34" charset="-122"/>
              </a:rPr>
              <a:t>Frontend                                                       Backend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F4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8992" y="160020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18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84048" cy="384048"/>
          </a:xfrm>
          <a:prstGeom prst="ellipse">
            <a:avLst/>
          </a:prstGeom>
          <a:solidFill>
            <a:srgbClr val="F4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67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2167128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2734056"/>
            <a:ext cx="384048" cy="384048"/>
          </a:xfrm>
          <a:prstGeom prst="ellipse">
            <a:avLst/>
          </a:prstGeom>
          <a:solidFill>
            <a:srgbClr val="F4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34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2734056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300984"/>
            <a:ext cx="384048" cy="384048"/>
          </a:xfrm>
          <a:prstGeom prst="ellipse">
            <a:avLst/>
          </a:prstGeom>
          <a:solidFill>
            <a:srgbClr val="F4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009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8992" y="3300984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867912"/>
            <a:ext cx="384048" cy="384048"/>
          </a:xfrm>
          <a:prstGeom prst="ellipse">
            <a:avLst/>
          </a:prstGeom>
          <a:solidFill>
            <a:srgbClr val="F4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67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8992" y="386791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 Router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F4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" y="443484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 Hook Form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5001768"/>
            <a:ext cx="384048" cy="384048"/>
          </a:xfrm>
          <a:prstGeom prst="ellipse">
            <a:avLst/>
          </a:prstGeom>
          <a:solidFill>
            <a:srgbClr val="F4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001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78992" y="5001768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63640" y="1600200"/>
            <a:ext cx="384048" cy="384048"/>
          </a:xfrm>
          <a:prstGeom prst="ellipse">
            <a:avLst/>
          </a:prstGeom>
          <a:solidFill>
            <a:srgbClr val="F4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93992" y="160020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3.11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63640" y="2167128"/>
            <a:ext cx="384048" cy="384048"/>
          </a:xfrm>
          <a:prstGeom prst="ellipse">
            <a:avLst/>
          </a:prstGeom>
          <a:solidFill>
            <a:srgbClr val="F4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167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93992" y="2167128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SQLAlchemy2.0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263640" y="2734056"/>
            <a:ext cx="384048" cy="384048"/>
          </a:xfrm>
          <a:prstGeom prst="ellipse">
            <a:avLst/>
          </a:prstGeom>
          <a:solidFill>
            <a:srgbClr val="F4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734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93992" y="2734056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authentication, Argon2 password hashing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263640" y="3300984"/>
            <a:ext cx="384048" cy="384048"/>
          </a:xfrm>
          <a:prstGeom prst="ellipse">
            <a:avLst/>
          </a:prstGeom>
          <a:solidFill>
            <a:srgbClr val="F4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33009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93992" y="3300984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16 +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pgvector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extension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263640" y="3867912"/>
            <a:ext cx="384048" cy="384048"/>
          </a:xfrm>
          <a:prstGeom prst="ellipse">
            <a:avLst/>
          </a:prstGeom>
          <a:solidFill>
            <a:srgbClr val="F4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3867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93992" y="386791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spaCy+custom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rule-based NLP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263640" y="4434840"/>
            <a:ext cx="384048" cy="384048"/>
          </a:xfrm>
          <a:prstGeom prst="ellipse">
            <a:avLst/>
          </a:prstGeom>
          <a:solidFill>
            <a:srgbClr val="F4F8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4434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93992" y="443484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Testing: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(backend), </a:t>
            </a:r>
            <a:r>
              <a:rPr lang="en-US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Vitest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React Testing Library (frontend)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 smtClean="0">
                <a:solidFill>
                  <a:srgbClr val="00A89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UML DESIGN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7"/>
            <a:ext cx="11064240" cy="6217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smtClean="0">
                <a:solidFill>
                  <a:srgbClr val="1B2A2E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Reliable Medical Support System UML Design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6828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 smtClean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Now, I will introduce to Reliable Medical Support System UML Design 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131" y="1743342"/>
            <a:ext cx="6712862" cy="49317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 smtClean="0">
                <a:solidFill>
                  <a:srgbClr val="00A89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METHOD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OVERVIEW 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 a glance, we show assessment pipeline  overview of Reliable Medical Support 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/>
              <a:t>5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807" y="1691640"/>
            <a:ext cx="7981351" cy="4676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 smtClean="0">
                <a:solidFill>
                  <a:srgbClr val="00A89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METHOD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NLP Pipeline 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917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next if you follow the "no emergency" path is shown here in a zoomed-in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 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steps within NLP: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052" y="1751779"/>
            <a:ext cx="6438215" cy="49233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 smtClean="0">
                <a:solidFill>
                  <a:srgbClr val="00A89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METHOD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RAG Pipeline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knowledge base is then searched using the normalized symptoms derived from NLP; here are the five steps within RAG: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923" y="1737100"/>
            <a:ext cx="6942417" cy="53089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 smtClean="0">
                <a:solidFill>
                  <a:srgbClr val="00A89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METHOD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LLM Pipeline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Now, this context is sent to the LLM, and then the final five steps are validated and explained.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923" y="1137386"/>
            <a:ext cx="7480802" cy="57206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150" dirty="0">
                <a:solidFill>
                  <a:srgbClr val="00A89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Project </a:t>
            </a:r>
            <a:r>
              <a:rPr lang="en-US" sz="2000" b="1" kern="0" spc="150" dirty="0" smtClean="0">
                <a:solidFill>
                  <a:srgbClr val="00A89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Skeleton  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Create Account page and Login Page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First of all , If you are a new member, then you create a new account by your own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</a:t>
            </a:r>
            <a:r>
              <a:rPr lang="en-US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mail address and password, and if you have an account just login by your Gmail and password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711" y="2153540"/>
            <a:ext cx="4055077" cy="41111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760" y="2153540"/>
            <a:ext cx="4111114" cy="41111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150" dirty="0">
                <a:solidFill>
                  <a:srgbClr val="00A89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Project Skeleton  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Dashboard 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312" y="1161288"/>
            <a:ext cx="10058400" cy="53670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150" dirty="0">
                <a:solidFill>
                  <a:srgbClr val="00A89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Project Skeleton  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Prompt </a:t>
            </a:r>
            <a:r>
              <a:rPr lang="en-US" sz="2800" b="1" dirty="0" smtClean="0"/>
              <a:t>Symptoms and others Information</a:t>
            </a:r>
            <a:endParaRPr lang="en-US" sz="2800" b="1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 the eighth day, I studied how the CNN model work.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097280"/>
            <a:ext cx="9993872" cy="5440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150" dirty="0">
                <a:solidFill>
                  <a:srgbClr val="00A89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Project Skeleton  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1"/>
          <p:cNvSpPr/>
          <p:nvPr/>
        </p:nvSpPr>
        <p:spPr>
          <a:xfrm>
            <a:off x="701040" y="7193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Disease Prediction and Suggestion </a:t>
            </a:r>
            <a:endParaRPr lang="en-US" sz="28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" y="1380785"/>
            <a:ext cx="3999147" cy="46952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564" y="1380785"/>
            <a:ext cx="3259119" cy="46952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545" y="1380784"/>
            <a:ext cx="3714735" cy="4695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 smtClean="0">
                <a:solidFill>
                  <a:srgbClr val="00A89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CONCLUSION 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184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ct val="120000"/>
              </a:lnSpc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The system's main strength is that safety is enforced structurally rather than just through instructions to the AI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emergencies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can't be downgraded, and cited sources are always real, retrieved content rather than something the model invented. Its main limitation is that the medical knowledge base is a small demo dataset that isn't clinically validated, and it currently depends on a paid API key for the AI features to work fully. Future work would focus on expanding the knowledge base with validated clinical sources and supporting offline, self-hosted AI models.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9AC88C5-3B4B-2BF5-51A3-D5AC64CD352D}"/>
              </a:ext>
            </a:extLst>
          </p:cNvPr>
          <p:cNvSpPr txBox="1"/>
          <p:nvPr/>
        </p:nvSpPr>
        <p:spPr>
          <a:xfrm>
            <a:off x="1347159" y="2069397"/>
            <a:ext cx="9497682" cy="2719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6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Attentions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6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366834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</TotalTime>
  <Words>592</Words>
  <Application>Microsoft Office PowerPoint</Application>
  <PresentationFormat>Custom</PresentationFormat>
  <Paragraphs>106</Paragraphs>
  <Slides>15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25</cp:revision>
  <dcterms:created xsi:type="dcterms:W3CDTF">2026-08-09T12:43:38Z</dcterms:created>
  <dcterms:modified xsi:type="dcterms:W3CDTF">2026-09-12T15:44:40Z</dcterms:modified>
</cp:coreProperties>
</file>